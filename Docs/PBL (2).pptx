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8" r:id="rId5"/>
    <p:sldId id="269" r:id="rId6"/>
    <p:sldId id="261" r:id="rId7"/>
    <p:sldId id="262" r:id="rId8"/>
    <p:sldId id="263" r:id="rId9"/>
    <p:sldId id="264" r:id="rId10"/>
    <p:sldId id="265"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1FC8CD-3DBD-8C40-83A5-056DEBE44204}" v="7" dt="2026-05-11T17:59:58.170"/>
    <p1510:client id="{92CD7866-F3DA-50AF-E0C6-A70546B9430A}" v="211" dt="2026-05-11T18:44:07.684"/>
    <p1510:client id="{E19E8F2B-8833-9FA3-83D1-A64B32541E4F}" v="195" dt="2026-05-11T18:44:19.0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F532-5A74-9265-2280-E86E292CF8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57785F-7D5A-8340-A590-58768CFBA1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8EED6E-D35B-185B-7465-994F3B254409}"/>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5" name="Footer Placeholder 4">
            <a:extLst>
              <a:ext uri="{FF2B5EF4-FFF2-40B4-BE49-F238E27FC236}">
                <a16:creationId xmlns:a16="http://schemas.microsoft.com/office/drawing/2014/main" id="{2648096A-F2AA-3649-A29F-894C4BA217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436E70-88AE-44A3-1B31-F22826CD6EFF}"/>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4128805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6E8A9-E8B2-082F-9D18-0201C3D671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337CEF-D547-6A22-08D9-EDAF4DF708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5206FC-38E6-7F23-E69B-ACACF7563877}"/>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5" name="Footer Placeholder 4">
            <a:extLst>
              <a:ext uri="{FF2B5EF4-FFF2-40B4-BE49-F238E27FC236}">
                <a16:creationId xmlns:a16="http://schemas.microsoft.com/office/drawing/2014/main" id="{CB7FAD27-DAE2-E760-8F02-43F368E6BB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D3865F-CAD3-A9AF-F2CC-52EDDC80B86F}"/>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423340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2E1CD-652C-C9EF-54B2-80193CC29A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2A6E71C-F6F8-EC1F-F010-5F3208726A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3827DE-0A01-BE9A-13F6-620AE25AD118}"/>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5" name="Footer Placeholder 4">
            <a:extLst>
              <a:ext uri="{FF2B5EF4-FFF2-40B4-BE49-F238E27FC236}">
                <a16:creationId xmlns:a16="http://schemas.microsoft.com/office/drawing/2014/main" id="{9B2934EA-4C3F-2BCD-5E18-BFB4EE9E73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ACA281-3691-66A1-80C1-E1573D2B67DF}"/>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3025859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0BB12-3230-B77B-B865-491E9C9F16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E08F1A-9D30-1FB8-FE11-4E88A5CA92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1ED87E-4369-120A-588A-20B1EFB769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C92AE1-BDA6-E959-4080-C410F4E3A247}"/>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6" name="Footer Placeholder 5">
            <a:extLst>
              <a:ext uri="{FF2B5EF4-FFF2-40B4-BE49-F238E27FC236}">
                <a16:creationId xmlns:a16="http://schemas.microsoft.com/office/drawing/2014/main" id="{1E05CCCD-C8E1-F575-2627-C3C30F500F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7CE984-002B-7B1E-E94B-E36940FB1655}"/>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4019663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C5EFA-8115-9B45-7BB8-8BCDBA3C5A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DC138C-A246-A0D4-8CE9-49111571AD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7D7C7-47E2-2680-B914-7053781113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5AF07B-16B9-429D-9CF0-E4C7692CA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863785-D712-DFCC-876F-F35EF56295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A5D468-0179-D551-2FD9-52FE8FE9A956}"/>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8" name="Footer Placeholder 7">
            <a:extLst>
              <a:ext uri="{FF2B5EF4-FFF2-40B4-BE49-F238E27FC236}">
                <a16:creationId xmlns:a16="http://schemas.microsoft.com/office/drawing/2014/main" id="{9B1108D5-40C0-C9F2-0DAA-1011BAC6624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558FCA7-20B7-9B34-6456-8A9EFDAE85C8}"/>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557695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C293-EE44-FD2E-513C-33E576147B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0193DD-3C43-BBC8-D965-384F29C59F07}"/>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4" name="Footer Placeholder 3">
            <a:extLst>
              <a:ext uri="{FF2B5EF4-FFF2-40B4-BE49-F238E27FC236}">
                <a16:creationId xmlns:a16="http://schemas.microsoft.com/office/drawing/2014/main" id="{DA1C6F2C-1F4F-57E4-AF2F-15B688FC8E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12D9FC-66C8-683D-BA2A-E49BC55AA6C5}"/>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2584780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F1971B-C823-747D-03BA-A27911F80261}"/>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3" name="Footer Placeholder 2">
            <a:extLst>
              <a:ext uri="{FF2B5EF4-FFF2-40B4-BE49-F238E27FC236}">
                <a16:creationId xmlns:a16="http://schemas.microsoft.com/office/drawing/2014/main" id="{7A7E40E6-6EA8-98CF-5ADA-DFD014E535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20434B-1E17-DC43-A753-8AD5F366B897}"/>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2526942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FA942-CCDF-4BC7-7C28-327E1B88B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F2120A-0ABB-EFBE-23FB-ACEA992AEB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FC9DE8-C969-0A4E-D772-E76C56F45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08319-109B-0B4C-F7FE-C2F8D8E99FC7}"/>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6" name="Footer Placeholder 5">
            <a:extLst>
              <a:ext uri="{FF2B5EF4-FFF2-40B4-BE49-F238E27FC236}">
                <a16:creationId xmlns:a16="http://schemas.microsoft.com/office/drawing/2014/main" id="{89299B84-5853-62C3-323B-2F80DFB827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CDA566-5FA7-C489-F58E-4930B4343607}"/>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3200284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538A-F9A4-E8F7-C4F9-E0AED1667E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6F82A0-2173-1C81-094D-0CAF6FD2B5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71D88A-7F77-DC4C-CF85-3429587F1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74836C-B5D0-5B66-8EBA-ABDA32860F09}"/>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6" name="Footer Placeholder 5">
            <a:extLst>
              <a:ext uri="{FF2B5EF4-FFF2-40B4-BE49-F238E27FC236}">
                <a16:creationId xmlns:a16="http://schemas.microsoft.com/office/drawing/2014/main" id="{AF9FA3E6-92D6-93AF-D464-2B8D739FCD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D38FBC-6F73-EC9B-285B-48189D0CE5FE}"/>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3762238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C8B1-FDD3-5C46-F5EA-3A3A7AAFEA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F0CD7B-FA1C-1CB8-A0BA-C45E1C6C80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D6D193-B5BA-0BDD-0A38-5970573141A2}"/>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5" name="Footer Placeholder 4">
            <a:extLst>
              <a:ext uri="{FF2B5EF4-FFF2-40B4-BE49-F238E27FC236}">
                <a16:creationId xmlns:a16="http://schemas.microsoft.com/office/drawing/2014/main" id="{0265D3BC-56D1-640C-1AAB-863CF39917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6B390E-B16C-3F02-A981-0E89DFBA0B62}"/>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230583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591A73-5C5E-D3D4-C142-35D4CD7B84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D9ECDF-B7D0-F534-4DFF-D22BB1DDD3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5A4F8A-3653-F0FF-8B3C-4B461A9A64F7}"/>
              </a:ext>
            </a:extLst>
          </p:cNvPr>
          <p:cNvSpPr>
            <a:spLocks noGrp="1"/>
          </p:cNvSpPr>
          <p:nvPr>
            <p:ph type="dt" sz="half" idx="10"/>
          </p:nvPr>
        </p:nvSpPr>
        <p:spPr/>
        <p:txBody>
          <a:bodyPr/>
          <a:lstStyle/>
          <a:p>
            <a:fld id="{EA10DD34-B580-4960-AEF6-9C6402C399ED}" type="datetimeFigureOut">
              <a:rPr lang="en-IN" smtClean="0"/>
              <a:t>12-05-2026</a:t>
            </a:fld>
            <a:endParaRPr lang="en-IN"/>
          </a:p>
        </p:txBody>
      </p:sp>
      <p:sp>
        <p:nvSpPr>
          <p:cNvPr id="5" name="Footer Placeholder 4">
            <a:extLst>
              <a:ext uri="{FF2B5EF4-FFF2-40B4-BE49-F238E27FC236}">
                <a16:creationId xmlns:a16="http://schemas.microsoft.com/office/drawing/2014/main" id="{EB149D71-4984-6BEF-FB62-B869415F78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D08993-792C-B54C-3619-523D067D3DB9}"/>
              </a:ext>
            </a:extLst>
          </p:cNvPr>
          <p:cNvSpPr>
            <a:spLocks noGrp="1"/>
          </p:cNvSpPr>
          <p:nvPr>
            <p:ph type="sldNum" sz="quarter" idx="12"/>
          </p:nvPr>
        </p:nvSpPr>
        <p:spPr/>
        <p:txBody>
          <a:bodyPr/>
          <a:lstStyle/>
          <a:p>
            <a:fld id="{F87C64DD-3045-48E4-86B0-EA31C7F751FA}" type="slidenum">
              <a:rPr lang="en-IN" smtClean="0"/>
              <a:t>‹#›</a:t>
            </a:fld>
            <a:endParaRPr lang="en-IN"/>
          </a:p>
        </p:txBody>
      </p:sp>
    </p:spTree>
    <p:extLst>
      <p:ext uri="{BB962C8B-B14F-4D97-AF65-F5344CB8AC3E}">
        <p14:creationId xmlns:p14="http://schemas.microsoft.com/office/powerpoint/2010/main" val="4238975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03F645-39E1-1708-7BA2-D6CAD92B87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1A375E-62E0-FC90-9549-B3A9588EC9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CB1350-7AD8-72B8-44B7-CEF4E00A90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10DD34-B580-4960-AEF6-9C6402C399ED}" type="datetimeFigureOut">
              <a:rPr lang="en-IN" smtClean="0"/>
              <a:t>12-05-2026</a:t>
            </a:fld>
            <a:endParaRPr lang="en-IN"/>
          </a:p>
        </p:txBody>
      </p:sp>
      <p:sp>
        <p:nvSpPr>
          <p:cNvPr id="5" name="Footer Placeholder 4">
            <a:extLst>
              <a:ext uri="{FF2B5EF4-FFF2-40B4-BE49-F238E27FC236}">
                <a16:creationId xmlns:a16="http://schemas.microsoft.com/office/drawing/2014/main" id="{FEFBBEC9-CC58-5F14-BB3E-0DB0265910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57B298C-54CE-3F2C-56EC-FAF0F44382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7C64DD-3045-48E4-86B0-EA31C7F751FA}" type="slidenum">
              <a:rPr lang="en-IN" smtClean="0"/>
              <a:t>‹#›</a:t>
            </a:fld>
            <a:endParaRPr lang="en-IN"/>
          </a:p>
        </p:txBody>
      </p:sp>
    </p:spTree>
    <p:extLst>
      <p:ext uri="{BB962C8B-B14F-4D97-AF65-F5344CB8AC3E}">
        <p14:creationId xmlns:p14="http://schemas.microsoft.com/office/powerpoint/2010/main" val="282670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BL-A-4/FPGA-based-matrix-multiply-accelerator.git"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presentation&#10;&#10;AI-generated content may be incorrect.">
            <a:extLst>
              <a:ext uri="{FF2B5EF4-FFF2-40B4-BE49-F238E27FC236}">
                <a16:creationId xmlns:a16="http://schemas.microsoft.com/office/drawing/2014/main" id="{ACDC7AC6-6BBF-697B-A57B-A49656244105}"/>
              </a:ext>
            </a:extLst>
          </p:cNvPr>
          <p:cNvPicPr>
            <a:picLocks noGrp="1" noChangeAspect="1"/>
          </p:cNvPicPr>
          <p:nvPr>
            <p:ph idx="1"/>
          </p:nvPr>
        </p:nvPicPr>
        <p:blipFill>
          <a:blip r:embed="rId2"/>
          <a:stretch>
            <a:fillRect/>
          </a:stretch>
        </p:blipFill>
        <p:spPr>
          <a:xfrm>
            <a:off x="201945" y="197243"/>
            <a:ext cx="11600220" cy="6522514"/>
          </a:xfrm>
          <a:prstGeom prst="rect">
            <a:avLst/>
          </a:prstGeom>
        </p:spPr>
      </p:pic>
    </p:spTree>
    <p:extLst>
      <p:ext uri="{BB962C8B-B14F-4D97-AF65-F5344CB8AC3E}">
        <p14:creationId xmlns:p14="http://schemas.microsoft.com/office/powerpoint/2010/main" val="1653783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2B685-7317-010D-A3A2-3DD521003333}"/>
              </a:ext>
            </a:extLst>
          </p:cNvPr>
          <p:cNvSpPr>
            <a:spLocks noGrp="1"/>
          </p:cNvSpPr>
          <p:nvPr>
            <p:ph type="title"/>
          </p:nvPr>
        </p:nvSpPr>
        <p:spPr/>
        <p:txBody>
          <a:bodyPr/>
          <a:lstStyle/>
          <a:p>
            <a:r>
              <a:rPr lang="en-US"/>
              <a:t>INTRODUCTION </a:t>
            </a:r>
          </a:p>
        </p:txBody>
      </p:sp>
      <p:sp>
        <p:nvSpPr>
          <p:cNvPr id="3" name="Content Placeholder 2">
            <a:extLst>
              <a:ext uri="{FF2B5EF4-FFF2-40B4-BE49-F238E27FC236}">
                <a16:creationId xmlns:a16="http://schemas.microsoft.com/office/drawing/2014/main" id="{BBF4C010-184E-53AB-1F88-C37DEFEE1BF8}"/>
              </a:ext>
            </a:extLst>
          </p:cNvPr>
          <p:cNvSpPr>
            <a:spLocks noGrp="1"/>
          </p:cNvSpPr>
          <p:nvPr>
            <p:ph idx="1"/>
          </p:nvPr>
        </p:nvSpPr>
        <p:spPr/>
        <p:txBody>
          <a:bodyPr vert="horz" lIns="91440" tIns="45720" rIns="91440" bIns="45720" rtlCol="0" anchor="t">
            <a:normAutofit/>
          </a:bodyPr>
          <a:lstStyle/>
          <a:p>
            <a:r>
              <a:rPr lang="en-US">
                <a:ea typeface="+mn-lt"/>
                <a:cs typeface="+mn-lt"/>
              </a:rPr>
              <a:t>AI and Machine Learning are used everywhere today, from face recognition to medical diagnosis. At the core of every neural network is one heavy operation, which is matrix multiplication. CPUs are too slow for this because they handle operations one at a time. GPUs are faster but they consume a lot of power and are costly. FPGAs offer a better solution. They can be programmed to run many multiplications in parallel at the same time, which makes them faster and more power efficient. In this project, we have designed an FPGA based parallel matrix multiplication accelerator using Verilog HDL, built from the basic arithmetic components up to a complete system</a:t>
            </a:r>
            <a:endParaRPr lang="en-US"/>
          </a:p>
        </p:txBody>
      </p:sp>
    </p:spTree>
    <p:extLst>
      <p:ext uri="{BB962C8B-B14F-4D97-AF65-F5344CB8AC3E}">
        <p14:creationId xmlns:p14="http://schemas.microsoft.com/office/powerpoint/2010/main" val="384022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A1546-D5FB-54B4-F60F-37F82D4CE827}"/>
              </a:ext>
            </a:extLst>
          </p:cNvPr>
          <p:cNvSpPr>
            <a:spLocks noGrp="1"/>
          </p:cNvSpPr>
          <p:nvPr>
            <p:ph type="title"/>
          </p:nvPr>
        </p:nvSpPr>
        <p:spPr/>
        <p:txBody>
          <a:bodyPr/>
          <a:lstStyle/>
          <a:p>
            <a:r>
              <a:rPr lang="en-US"/>
              <a:t>PROBLEM STATEMEMT:</a:t>
            </a:r>
          </a:p>
        </p:txBody>
      </p:sp>
      <p:sp>
        <p:nvSpPr>
          <p:cNvPr id="3" name="Content Placeholder 2">
            <a:extLst>
              <a:ext uri="{FF2B5EF4-FFF2-40B4-BE49-F238E27FC236}">
                <a16:creationId xmlns:a16="http://schemas.microsoft.com/office/drawing/2014/main" id="{62D636DC-9177-42C7-C7E6-6C234A5EF9E1}"/>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Matrix multiplication has a time complexity of O(n³), which means as the matrix size doubles, the computation time increases by eight times. This is not practical at all for real time AI applications where speed matters a lot.</a:t>
            </a:r>
            <a:endParaRPr lang="en-US"/>
          </a:p>
          <a:p>
            <a:r>
              <a:rPr lang="en-US">
                <a:ea typeface="+mn-lt"/>
                <a:cs typeface="+mn-lt"/>
              </a:rPr>
              <a:t>Existing hardware solutions like CPUs and GPUs either use too many resources, consume too much power, or do not scale well for larger matrix sizes. There is a clear need for a dedicated hardware solution that is both fast and resource efficient.</a:t>
            </a:r>
            <a:endParaRPr lang="en-US"/>
          </a:p>
          <a:p>
            <a:r>
              <a:rPr lang="en-US">
                <a:ea typeface="+mn-lt"/>
                <a:cs typeface="+mn-lt"/>
              </a:rPr>
              <a:t>Our project aims to design an FPGA based parallel matrix multiplication accelerator that solves this problem. We start from the basic arithmetic building blocks and work our way up to a complete system that is efficient in both speed and resource usage.</a:t>
            </a:r>
            <a:endParaRPr lang="en-US"/>
          </a:p>
        </p:txBody>
      </p:sp>
    </p:spTree>
    <p:extLst>
      <p:ext uri="{BB962C8B-B14F-4D97-AF65-F5344CB8AC3E}">
        <p14:creationId xmlns:p14="http://schemas.microsoft.com/office/powerpoint/2010/main" val="4159532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45256-0229-B6AC-8D58-92B4714F98C3}"/>
              </a:ext>
            </a:extLst>
          </p:cNvPr>
          <p:cNvSpPr>
            <a:spLocks noGrp="1"/>
          </p:cNvSpPr>
          <p:nvPr>
            <p:ph type="title"/>
          </p:nvPr>
        </p:nvSpPr>
        <p:spPr>
          <a:xfrm>
            <a:off x="290945" y="0"/>
            <a:ext cx="11125200" cy="987135"/>
          </a:xfrm>
        </p:spPr>
        <p:txBody>
          <a:bodyPr/>
          <a:lstStyle/>
          <a:p>
            <a:r>
              <a:rPr lang="en-US" dirty="0"/>
              <a:t>Architecture</a:t>
            </a:r>
            <a:endParaRPr lang="en-IN" dirty="0"/>
          </a:p>
        </p:txBody>
      </p:sp>
      <p:pic>
        <p:nvPicPr>
          <p:cNvPr id="4" name="Picture 3">
            <a:extLst>
              <a:ext uri="{FF2B5EF4-FFF2-40B4-BE49-F238E27FC236}">
                <a16:creationId xmlns:a16="http://schemas.microsoft.com/office/drawing/2014/main" id="{C95A9054-9F3A-EFAF-04A8-9FA7D58815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987134"/>
            <a:ext cx="6047509" cy="5870865"/>
          </a:xfrm>
          <a:prstGeom prst="rect">
            <a:avLst/>
          </a:prstGeom>
        </p:spPr>
      </p:pic>
    </p:spTree>
    <p:extLst>
      <p:ext uri="{BB962C8B-B14F-4D97-AF65-F5344CB8AC3E}">
        <p14:creationId xmlns:p14="http://schemas.microsoft.com/office/powerpoint/2010/main" val="389037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641C7-A1E4-8CC9-F9E8-D5C3FB65B04B}"/>
              </a:ext>
            </a:extLst>
          </p:cNvPr>
          <p:cNvSpPr>
            <a:spLocks noGrp="1"/>
          </p:cNvSpPr>
          <p:nvPr>
            <p:ph type="title"/>
          </p:nvPr>
        </p:nvSpPr>
        <p:spPr>
          <a:xfrm>
            <a:off x="225136" y="-102466"/>
            <a:ext cx="10515600" cy="1325563"/>
          </a:xfrm>
        </p:spPr>
        <p:txBody>
          <a:bodyPr/>
          <a:lstStyle/>
          <a:p>
            <a:r>
              <a:rPr lang="en-US" dirty="0"/>
              <a:t>Block Diagram</a:t>
            </a:r>
            <a:endParaRPr lang="en-IN" dirty="0"/>
          </a:p>
        </p:txBody>
      </p:sp>
      <p:pic>
        <p:nvPicPr>
          <p:cNvPr id="4" name="Picture 3">
            <a:extLst>
              <a:ext uri="{FF2B5EF4-FFF2-40B4-BE49-F238E27FC236}">
                <a16:creationId xmlns:a16="http://schemas.microsoft.com/office/drawing/2014/main" id="{4B48ACE3-C72F-AC16-733F-900A7A539E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02" y="928338"/>
            <a:ext cx="11793596" cy="5732235"/>
          </a:xfrm>
          <a:prstGeom prst="rect">
            <a:avLst/>
          </a:prstGeom>
        </p:spPr>
      </p:pic>
    </p:spTree>
    <p:extLst>
      <p:ext uri="{BB962C8B-B14F-4D97-AF65-F5344CB8AC3E}">
        <p14:creationId xmlns:p14="http://schemas.microsoft.com/office/powerpoint/2010/main" val="845437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AE387-6D4D-12C0-9CE2-4A55FCE07F4B}"/>
              </a:ext>
            </a:extLst>
          </p:cNvPr>
          <p:cNvSpPr>
            <a:spLocks noGrp="1"/>
          </p:cNvSpPr>
          <p:nvPr>
            <p:ph type="title"/>
          </p:nvPr>
        </p:nvSpPr>
        <p:spPr>
          <a:xfrm>
            <a:off x="838200" y="104167"/>
            <a:ext cx="10515600" cy="1106356"/>
          </a:xfrm>
        </p:spPr>
        <p:txBody>
          <a:bodyPr/>
          <a:lstStyle/>
          <a:p>
            <a:r>
              <a:rPr lang="en-US" dirty="0"/>
              <a:t>Theoretical </a:t>
            </a:r>
            <a:r>
              <a:rPr lang="en-US"/>
              <a:t>Background</a:t>
            </a:r>
          </a:p>
        </p:txBody>
      </p:sp>
      <p:sp>
        <p:nvSpPr>
          <p:cNvPr id="3" name="Content Placeholder 2">
            <a:extLst>
              <a:ext uri="{FF2B5EF4-FFF2-40B4-BE49-F238E27FC236}">
                <a16:creationId xmlns:a16="http://schemas.microsoft.com/office/drawing/2014/main" id="{73264D50-8E79-5EA7-80AF-0A5BEA0202DC}"/>
              </a:ext>
            </a:extLst>
          </p:cNvPr>
          <p:cNvSpPr>
            <a:spLocks noGrp="1"/>
          </p:cNvSpPr>
          <p:nvPr>
            <p:ph idx="1"/>
          </p:nvPr>
        </p:nvSpPr>
        <p:spPr>
          <a:xfrm>
            <a:off x="838200" y="1094941"/>
            <a:ext cx="10515600" cy="5405611"/>
          </a:xfrm>
        </p:spPr>
        <p:txBody>
          <a:bodyPr vert="horz" lIns="91440" tIns="45720" rIns="91440" bIns="45720" rtlCol="0" anchor="t">
            <a:noAutofit/>
          </a:bodyPr>
          <a:lstStyle/>
          <a:p>
            <a:pPr marL="0" indent="0">
              <a:buNone/>
            </a:pPr>
            <a:r>
              <a:rPr lang="en-US" sz="1700" b="1">
                <a:ea typeface="+mn-lt"/>
                <a:cs typeface="+mn-lt"/>
              </a:rPr>
              <a:t>1. 8x8 Multiplier:</a:t>
            </a:r>
            <a:endParaRPr lang="en-US" sz="1700" b="1"/>
          </a:p>
          <a:p>
            <a:r>
              <a:rPr lang="en-US" sz="1700" dirty="0">
                <a:ea typeface="+mn-lt"/>
                <a:cs typeface="+mn-lt"/>
              </a:rPr>
              <a:t>Takes two 8-bit inputs A and B and gives a </a:t>
            </a:r>
            <a:r>
              <a:rPr lang="en-US" sz="1700">
                <a:ea typeface="+mn-lt"/>
                <a:cs typeface="+mn-lt"/>
              </a:rPr>
              <a:t>16-bit</a:t>
            </a:r>
            <a:r>
              <a:rPr lang="en-US" sz="1700" dirty="0">
                <a:ea typeface="+mn-lt"/>
                <a:cs typeface="+mn-lt"/>
              </a:rPr>
              <a:t> product output</a:t>
            </a:r>
            <a:endParaRPr lang="en-US" sz="1700"/>
          </a:p>
          <a:p>
            <a:r>
              <a:rPr lang="en-US" sz="1700">
                <a:ea typeface="+mn-lt"/>
                <a:cs typeface="+mn-lt"/>
              </a:rPr>
              <a:t>Generates partial products and sums them up using ripple carry adders</a:t>
            </a:r>
            <a:endParaRPr lang="en-US" sz="1700"/>
          </a:p>
          <a:p>
            <a:r>
              <a:rPr lang="en-US" sz="1700">
                <a:ea typeface="+mn-lt"/>
                <a:cs typeface="+mn-lt"/>
              </a:rPr>
              <a:t>Formula: P = A x B</a:t>
            </a:r>
            <a:endParaRPr lang="en-US" sz="1700"/>
          </a:p>
          <a:p>
            <a:pPr marL="0" indent="0">
              <a:buNone/>
            </a:pPr>
            <a:r>
              <a:rPr lang="en-US" sz="1700" b="1" dirty="0">
                <a:ea typeface="+mn-lt"/>
                <a:cs typeface="+mn-lt"/>
              </a:rPr>
              <a:t>2. </a:t>
            </a:r>
            <a:r>
              <a:rPr lang="en-US" sz="1700" b="1">
                <a:ea typeface="+mn-lt"/>
                <a:cs typeface="+mn-lt"/>
              </a:rPr>
              <a:t>18-bit Ripple Carry Adder:</a:t>
            </a:r>
            <a:endParaRPr lang="en-US" sz="1700" b="1"/>
          </a:p>
          <a:p>
            <a:r>
              <a:rPr lang="en-US" sz="1700" dirty="0">
                <a:ea typeface="+mn-lt"/>
                <a:cs typeface="+mn-lt"/>
              </a:rPr>
              <a:t>Adds two </a:t>
            </a:r>
            <a:r>
              <a:rPr lang="en-US" sz="1700">
                <a:ea typeface="+mn-lt"/>
                <a:cs typeface="+mn-lt"/>
              </a:rPr>
              <a:t>18-bit</a:t>
            </a:r>
            <a:r>
              <a:rPr lang="en-US" sz="1700" dirty="0">
                <a:ea typeface="+mn-lt"/>
                <a:cs typeface="+mn-lt"/>
              </a:rPr>
              <a:t> numbers along with a carry input</a:t>
            </a:r>
            <a:endParaRPr lang="en-US" sz="1700"/>
          </a:p>
          <a:p>
            <a:r>
              <a:rPr lang="en-US" sz="1700">
                <a:ea typeface="+mn-lt"/>
                <a:cs typeface="+mn-lt"/>
              </a:rPr>
              <a:t>Made up of 18 full adders connected in a chain</a:t>
            </a:r>
            <a:endParaRPr lang="en-US" sz="1700"/>
          </a:p>
          <a:p>
            <a:r>
              <a:rPr lang="en-US" sz="1700">
                <a:ea typeface="+mn-lt"/>
                <a:cs typeface="+mn-lt"/>
              </a:rPr>
              <a:t>Used for accumulation in the MAC operation</a:t>
            </a:r>
            <a:endParaRPr lang="en-US" sz="1700"/>
          </a:p>
          <a:p>
            <a:r>
              <a:rPr lang="en-US" sz="1700">
                <a:ea typeface="+mn-lt"/>
                <a:cs typeface="+mn-lt"/>
              </a:rPr>
              <a:t>Also detects overflow using the carry bits</a:t>
            </a:r>
            <a:endParaRPr lang="en-US" sz="1700"/>
          </a:p>
          <a:p>
            <a:r>
              <a:rPr lang="en-US" sz="1700">
                <a:ea typeface="+mn-lt"/>
                <a:cs typeface="+mn-lt"/>
              </a:rPr>
              <a:t>Formula: S = A + B</a:t>
            </a:r>
            <a:endParaRPr lang="en-US" sz="1700"/>
          </a:p>
          <a:p>
            <a:pPr marL="0" indent="0">
              <a:buNone/>
            </a:pPr>
            <a:r>
              <a:rPr lang="en-US" sz="1700" b="1">
                <a:ea typeface="+mn-lt"/>
                <a:cs typeface="+mn-lt"/>
              </a:rPr>
              <a:t>3. D Flip Flop:</a:t>
            </a:r>
            <a:endParaRPr lang="en-US" sz="1700" b="1"/>
          </a:p>
          <a:p>
            <a:r>
              <a:rPr lang="en-US" sz="1700">
                <a:ea typeface="+mn-lt"/>
                <a:cs typeface="+mn-lt"/>
              </a:rPr>
              <a:t>Stores one bit of data and updates it on every rising clock edge</a:t>
            </a:r>
            <a:endParaRPr lang="en-US" sz="1700"/>
          </a:p>
          <a:p>
            <a:r>
              <a:rPr lang="en-US" sz="1700">
                <a:ea typeface="+mn-lt"/>
                <a:cs typeface="+mn-lt"/>
              </a:rPr>
              <a:t>Used to hold intermediate and final values in the system</a:t>
            </a:r>
            <a:endParaRPr lang="en-US" sz="1700"/>
          </a:p>
          <a:p>
            <a:r>
              <a:rPr lang="en-US" sz="1700">
                <a:ea typeface="+mn-lt"/>
                <a:cs typeface="+mn-lt"/>
              </a:rPr>
              <a:t>Supports synchronous and asynchronous reset</a:t>
            </a:r>
            <a:endParaRPr lang="en-US" sz="1700"/>
          </a:p>
          <a:p>
            <a:r>
              <a:rPr lang="en-US" sz="1700">
                <a:ea typeface="+mn-lt"/>
                <a:cs typeface="+mn-lt"/>
              </a:rPr>
              <a:t>Formula: Q(t+1) = D</a:t>
            </a:r>
            <a:endParaRPr lang="en-US" sz="1700"/>
          </a:p>
        </p:txBody>
      </p:sp>
    </p:spTree>
    <p:extLst>
      <p:ext uri="{BB962C8B-B14F-4D97-AF65-F5344CB8AC3E}">
        <p14:creationId xmlns:p14="http://schemas.microsoft.com/office/powerpoint/2010/main" val="361450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78F85-D288-1159-4A90-B81210392F6D}"/>
              </a:ext>
            </a:extLst>
          </p:cNvPr>
          <p:cNvSpPr>
            <a:spLocks noGrp="1"/>
          </p:cNvSpPr>
          <p:nvPr>
            <p:ph type="title"/>
          </p:nvPr>
        </p:nvSpPr>
        <p:spPr>
          <a:xfrm>
            <a:off x="504173" y="292057"/>
            <a:ext cx="10849627" cy="1419507"/>
          </a:xfrm>
        </p:spPr>
        <p:txBody>
          <a:bodyPr/>
          <a:lstStyle/>
          <a:p>
            <a:r>
              <a:rPr lang="en-US" sz="4000">
                <a:ea typeface="+mj-lt"/>
                <a:cs typeface="+mj-lt"/>
              </a:rPr>
              <a:t>System Design &amp; Simplification</a:t>
            </a:r>
            <a:r>
              <a:rPr lang="en-US" sz="4000"/>
              <a:t> </a:t>
            </a:r>
          </a:p>
        </p:txBody>
      </p:sp>
      <p:sp>
        <p:nvSpPr>
          <p:cNvPr id="3" name="Content Placeholder 2">
            <a:extLst>
              <a:ext uri="{FF2B5EF4-FFF2-40B4-BE49-F238E27FC236}">
                <a16:creationId xmlns:a16="http://schemas.microsoft.com/office/drawing/2014/main" id="{B3695A9F-88C0-2D99-9D0D-5CD53EBFC56E}"/>
              </a:ext>
            </a:extLst>
          </p:cNvPr>
          <p:cNvSpPr>
            <a:spLocks noGrp="1"/>
          </p:cNvSpPr>
          <p:nvPr>
            <p:ph idx="1"/>
          </p:nvPr>
        </p:nvSpPr>
        <p:spPr>
          <a:xfrm>
            <a:off x="504173" y="1721242"/>
            <a:ext cx="11329791" cy="4747994"/>
          </a:xfrm>
        </p:spPr>
        <p:txBody>
          <a:bodyPr vert="horz" lIns="91440" tIns="45720" rIns="91440" bIns="45720" rtlCol="0" anchor="t">
            <a:normAutofit fontScale="92500"/>
          </a:bodyPr>
          <a:lstStyle/>
          <a:p>
            <a:r>
              <a:rPr lang="en-US">
                <a:ea typeface="+mn-lt"/>
                <a:cs typeface="+mn-lt"/>
              </a:rPr>
              <a:t>Designed a 3×3 Parallel MAC Array with 9 MAC units, each handling one element of the output matrix simultaneously</a:t>
            </a:r>
            <a:endParaRPr lang="en-US"/>
          </a:p>
          <a:p>
            <a:r>
              <a:rPr lang="en-US">
                <a:ea typeface="+mn-lt"/>
                <a:cs typeface="+mn-lt"/>
              </a:rPr>
              <a:t>Each MAC unit is built from three leaf cells: an 8×8 Multiplier, an 18-bit Adder, and a D Flip-Flop</a:t>
            </a:r>
            <a:endParaRPr lang="en-US"/>
          </a:p>
          <a:p>
            <a:r>
              <a:rPr lang="en-US">
                <a:ea typeface="+mn-lt"/>
                <a:cs typeface="+mn-lt"/>
              </a:rPr>
              <a:t>A Control Unit (FSM) manages clock, reset, load, and done signals to sequence operations</a:t>
            </a:r>
            <a:endParaRPr lang="en-US"/>
          </a:p>
          <a:p>
            <a:r>
              <a:rPr lang="en-US">
                <a:ea typeface="+mn-lt"/>
                <a:cs typeface="+mn-lt"/>
              </a:rPr>
              <a:t>Input Buffers feed matrix A and B elements (8-bit each) in an organized flow to reduce delay</a:t>
            </a:r>
            <a:endParaRPr lang="en-US"/>
          </a:p>
          <a:p>
            <a:r>
              <a:rPr lang="en-US">
                <a:ea typeface="+mn-lt"/>
                <a:cs typeface="+mn-lt"/>
              </a:rPr>
              <a:t>Output Buffer stores result matrix C in higher bit-width to prevent overflow</a:t>
            </a:r>
            <a:endParaRPr lang="en-US"/>
          </a:p>
          <a:p>
            <a:r>
              <a:rPr lang="en-US">
                <a:ea typeface="+mn-lt"/>
                <a:cs typeface="+mn-lt"/>
              </a:rPr>
              <a:t>Simplification choice: started from leaf cell level instead of a full complex system, making debugging, verification and scaling easier.</a:t>
            </a:r>
            <a:endParaRPr lang="en-US"/>
          </a:p>
          <a:p>
            <a:endParaRPr lang="en-US"/>
          </a:p>
        </p:txBody>
      </p:sp>
    </p:spTree>
    <p:extLst>
      <p:ext uri="{BB962C8B-B14F-4D97-AF65-F5344CB8AC3E}">
        <p14:creationId xmlns:p14="http://schemas.microsoft.com/office/powerpoint/2010/main" val="1046721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DC662-F7FB-BB62-5333-3C047D3A71A6}"/>
              </a:ext>
            </a:extLst>
          </p:cNvPr>
          <p:cNvSpPr>
            <a:spLocks noGrp="1"/>
          </p:cNvSpPr>
          <p:nvPr>
            <p:ph type="title"/>
          </p:nvPr>
        </p:nvSpPr>
        <p:spPr>
          <a:xfrm>
            <a:off x="598118" y="229427"/>
            <a:ext cx="10755682" cy="1033288"/>
          </a:xfrm>
        </p:spPr>
        <p:txBody>
          <a:bodyPr/>
          <a:lstStyle/>
          <a:p>
            <a:r>
              <a:rPr lang="en-US"/>
              <a:t>Software Requirements </a:t>
            </a:r>
          </a:p>
        </p:txBody>
      </p:sp>
      <p:sp>
        <p:nvSpPr>
          <p:cNvPr id="3" name="Content Placeholder 2">
            <a:extLst>
              <a:ext uri="{FF2B5EF4-FFF2-40B4-BE49-F238E27FC236}">
                <a16:creationId xmlns:a16="http://schemas.microsoft.com/office/drawing/2014/main" id="{73577ACE-889C-B915-3DD4-DFF546FB2782}"/>
              </a:ext>
            </a:extLst>
          </p:cNvPr>
          <p:cNvSpPr>
            <a:spLocks noGrp="1"/>
          </p:cNvSpPr>
          <p:nvPr>
            <p:ph idx="1"/>
          </p:nvPr>
        </p:nvSpPr>
        <p:spPr>
          <a:xfrm>
            <a:off x="389351" y="1053188"/>
            <a:ext cx="11455051" cy="5332542"/>
          </a:xfrm>
        </p:spPr>
        <p:txBody>
          <a:bodyPr vert="horz" lIns="91440" tIns="45720" rIns="91440" bIns="45720" rtlCol="0" anchor="t">
            <a:normAutofit lnSpcReduction="10000"/>
          </a:bodyPr>
          <a:lstStyle/>
          <a:p>
            <a:pPr marL="0" indent="0">
              <a:buNone/>
            </a:pPr>
            <a:endParaRPr lang="en-US">
              <a:ea typeface="+mn-lt"/>
              <a:cs typeface="+mn-lt"/>
            </a:endParaRPr>
          </a:p>
          <a:p>
            <a:r>
              <a:rPr lang="en-US" b="1" dirty="0">
                <a:ea typeface="+mn-lt"/>
                <a:cs typeface="+mn-lt"/>
              </a:rPr>
              <a:t>Tool Used:</a:t>
            </a:r>
            <a:r>
              <a:rPr lang="en-US" dirty="0">
                <a:ea typeface="+mn-lt"/>
                <a:cs typeface="+mn-lt"/>
              </a:rPr>
              <a:t> </a:t>
            </a:r>
            <a:r>
              <a:rPr lang="en-US" dirty="0" err="1">
                <a:ea typeface="+mn-lt"/>
                <a:cs typeface="+mn-lt"/>
              </a:rPr>
              <a:t>Vivado</a:t>
            </a:r>
            <a:r>
              <a:rPr lang="en-US" dirty="0">
                <a:ea typeface="+mn-lt"/>
                <a:cs typeface="+mn-lt"/>
              </a:rPr>
              <a:t> Design Suite 2018.2</a:t>
            </a:r>
            <a:endParaRPr lang="en-US" dirty="0"/>
          </a:p>
          <a:p>
            <a:r>
              <a:rPr lang="en-US" b="1" dirty="0">
                <a:ea typeface="+mn-lt"/>
                <a:cs typeface="+mn-lt"/>
              </a:rPr>
              <a:t>Code Writing</a:t>
            </a:r>
            <a:r>
              <a:rPr lang="en-US" dirty="0">
                <a:ea typeface="+mn-lt"/>
                <a:cs typeface="+mn-lt"/>
              </a:rPr>
              <a:t> :All three leaf cell modules (D Flip-Flop, 8×8 Multiplier, 18-bit Ripple Carry Adder) written in Verilog HDL within </a:t>
            </a:r>
            <a:r>
              <a:rPr lang="en-US" dirty="0" err="1">
                <a:ea typeface="+mn-lt"/>
                <a:cs typeface="+mn-lt"/>
              </a:rPr>
              <a:t>Vivado</a:t>
            </a:r>
            <a:endParaRPr lang="en-US" dirty="0" err="1"/>
          </a:p>
          <a:p>
            <a:r>
              <a:rPr lang="en-US" b="1" dirty="0">
                <a:ea typeface="+mn-lt"/>
                <a:cs typeface="+mn-lt"/>
              </a:rPr>
              <a:t>Testbench Simulation</a:t>
            </a:r>
            <a:r>
              <a:rPr lang="en-US" dirty="0">
                <a:ea typeface="+mn-lt"/>
                <a:cs typeface="+mn-lt"/>
              </a:rPr>
              <a:t> : Testbenches written and simulated in </a:t>
            </a:r>
            <a:r>
              <a:rPr lang="en-US" dirty="0" err="1">
                <a:ea typeface="+mn-lt"/>
                <a:cs typeface="+mn-lt"/>
              </a:rPr>
              <a:t>Vivado's</a:t>
            </a:r>
            <a:r>
              <a:rPr lang="en-US" dirty="0">
                <a:ea typeface="+mn-lt"/>
                <a:cs typeface="+mn-lt"/>
              </a:rPr>
              <a:t> built-in simulator to verify functional correctness</a:t>
            </a:r>
            <a:endParaRPr lang="en-US" dirty="0"/>
          </a:p>
          <a:p>
            <a:r>
              <a:rPr lang="en-US" b="1" dirty="0">
                <a:ea typeface="+mn-lt"/>
                <a:cs typeface="+mn-lt"/>
              </a:rPr>
              <a:t>Waveform Analysis</a:t>
            </a:r>
            <a:r>
              <a:rPr lang="en-US" dirty="0">
                <a:ea typeface="+mn-lt"/>
                <a:cs typeface="+mn-lt"/>
              </a:rPr>
              <a:t> : Simulation waveforms generated and analyzed within </a:t>
            </a:r>
            <a:r>
              <a:rPr lang="en-US" dirty="0" err="1">
                <a:ea typeface="+mn-lt"/>
                <a:cs typeface="+mn-lt"/>
              </a:rPr>
              <a:t>Vivado</a:t>
            </a:r>
            <a:r>
              <a:rPr lang="en-US" dirty="0">
                <a:ea typeface="+mn-lt"/>
                <a:cs typeface="+mn-lt"/>
              </a:rPr>
              <a:t> to confirm expected output behavior</a:t>
            </a:r>
            <a:endParaRPr lang="en-US" dirty="0"/>
          </a:p>
          <a:p>
            <a:r>
              <a:rPr lang="en-US" b="1">
                <a:ea typeface="+mn-lt"/>
                <a:cs typeface="+mn-lt"/>
              </a:rPr>
              <a:t>RTL/Circuit Diagram</a:t>
            </a:r>
            <a:r>
              <a:rPr lang="en-US">
                <a:ea typeface="+mn-lt"/>
                <a:cs typeface="+mn-lt"/>
              </a:rPr>
              <a:t> : Schematic views of each module generated using Vivado's RTL Analysis feature</a:t>
            </a:r>
            <a:endParaRPr lang="en-US"/>
          </a:p>
          <a:p>
            <a:r>
              <a:rPr lang="en-US" b="1" dirty="0">
                <a:ea typeface="+mn-lt"/>
                <a:cs typeface="+mn-lt"/>
              </a:rPr>
              <a:t>draw.io (diagrams.net)</a:t>
            </a:r>
            <a:r>
              <a:rPr lang="en-US" dirty="0">
                <a:ea typeface="+mn-lt"/>
                <a:cs typeface="+mn-lt"/>
              </a:rPr>
              <a:t> : </a:t>
            </a:r>
            <a:r>
              <a:rPr lang="en-US">
                <a:ea typeface="+mn-lt"/>
                <a:cs typeface="+mn-lt"/>
              </a:rPr>
              <a:t>Was used to design the Block Diagram and Architecture</a:t>
            </a:r>
            <a:r>
              <a:rPr lang="en-US" dirty="0">
                <a:ea typeface="+mn-lt"/>
                <a:cs typeface="+mn-lt"/>
              </a:rPr>
              <a:t> Diagram of the system</a:t>
            </a:r>
            <a:endParaRPr lang="en-US" dirty="0"/>
          </a:p>
          <a:p>
            <a:endParaRPr lang="en-US"/>
          </a:p>
        </p:txBody>
      </p:sp>
    </p:spTree>
    <p:extLst>
      <p:ext uri="{BB962C8B-B14F-4D97-AF65-F5344CB8AC3E}">
        <p14:creationId xmlns:p14="http://schemas.microsoft.com/office/powerpoint/2010/main" val="776866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BE0DE-33A7-C671-45A8-D0EEEB483852}"/>
              </a:ext>
            </a:extLst>
          </p:cNvPr>
          <p:cNvSpPr>
            <a:spLocks noGrp="1"/>
          </p:cNvSpPr>
          <p:nvPr>
            <p:ph type="title"/>
          </p:nvPr>
        </p:nvSpPr>
        <p:spPr>
          <a:xfrm>
            <a:off x="660748" y="250304"/>
            <a:ext cx="10693052" cy="1137671"/>
          </a:xfrm>
        </p:spPr>
        <p:txBody>
          <a:bodyPr/>
          <a:lstStyle/>
          <a:p>
            <a:r>
              <a:rPr lang="en-US" dirty="0" err="1"/>
              <a:t>Implementat</a:t>
            </a:r>
            <a:r>
              <a:rPr lang="en-US" dirty="0"/>
              <a:t>ion </a:t>
            </a:r>
          </a:p>
        </p:txBody>
      </p:sp>
      <p:sp>
        <p:nvSpPr>
          <p:cNvPr id="3" name="Content Placeholder 2">
            <a:extLst>
              <a:ext uri="{FF2B5EF4-FFF2-40B4-BE49-F238E27FC236}">
                <a16:creationId xmlns:a16="http://schemas.microsoft.com/office/drawing/2014/main" id="{83EE39A0-DBA1-1475-6A80-A119EC4D6060}"/>
              </a:ext>
            </a:extLst>
          </p:cNvPr>
          <p:cNvSpPr>
            <a:spLocks noGrp="1"/>
          </p:cNvSpPr>
          <p:nvPr>
            <p:ph idx="1"/>
          </p:nvPr>
        </p:nvSpPr>
        <p:spPr>
          <a:xfrm>
            <a:off x="441543" y="1533352"/>
            <a:ext cx="10912257" cy="4643611"/>
          </a:xfrm>
        </p:spPr>
        <p:txBody>
          <a:bodyPr vert="horz" lIns="91440" tIns="45720" rIns="91440" bIns="45720" rtlCol="0" anchor="t">
            <a:normAutofit fontScale="92500" lnSpcReduction="10000"/>
          </a:bodyPr>
          <a:lstStyle/>
          <a:p>
            <a:r>
              <a:rPr lang="en-US" b="1">
                <a:ea typeface="+mn-lt"/>
                <a:cs typeface="+mn-lt"/>
              </a:rPr>
              <a:t>D Flip-Flop:</a:t>
            </a:r>
            <a:r>
              <a:rPr lang="en-US">
                <a:ea typeface="+mn-lt"/>
                <a:cs typeface="+mn-lt"/>
              </a:rPr>
              <a:t> Implemented in three variants : Basic, Synchronous reset and Asynchronous reset. It captures data on positive clock edge (Q(t+1) = D)</a:t>
            </a:r>
            <a:endParaRPr lang="en-US"/>
          </a:p>
          <a:p>
            <a:r>
              <a:rPr lang="en-US" b="1">
                <a:ea typeface="+mn-lt"/>
                <a:cs typeface="+mn-lt"/>
              </a:rPr>
              <a:t>8×8 Multiplier:</a:t>
            </a:r>
            <a:r>
              <a:rPr lang="en-US">
                <a:ea typeface="+mn-lt"/>
                <a:cs typeface="+mn-lt"/>
              </a:rPr>
              <a:t> Generates 8 partial products using AND operations, then sums them stage-by-stage using 7 cascaded 18-bit Ripple Carry Adder instances and it produces a 16-bit product</a:t>
            </a:r>
            <a:endParaRPr lang="en-US"/>
          </a:p>
          <a:p>
            <a:r>
              <a:rPr lang="en-US" b="1">
                <a:ea typeface="+mn-lt"/>
                <a:cs typeface="+mn-lt"/>
              </a:rPr>
              <a:t>18-bit Ripple Carry Adder:</a:t>
            </a:r>
            <a:r>
              <a:rPr lang="en-US">
                <a:ea typeface="+mn-lt"/>
                <a:cs typeface="+mn-lt"/>
              </a:rPr>
              <a:t> Built from 18 chained Full Adder instances. It includes carry-out and overflow detection, which used both standalone and inside the multiplier</a:t>
            </a:r>
            <a:endParaRPr lang="en-US"/>
          </a:p>
          <a:p>
            <a:r>
              <a:rPr lang="en-US">
                <a:ea typeface="+mn-lt"/>
                <a:cs typeface="+mn-lt"/>
              </a:rPr>
              <a:t>Each module was paired with a dedicated testbench covering edge cases (zero, max value, carry-in, powers of two)</a:t>
            </a:r>
            <a:endParaRPr lang="en-US"/>
          </a:p>
          <a:p>
            <a:r>
              <a:rPr lang="en-US">
                <a:ea typeface="+mn-lt"/>
                <a:cs typeface="+mn-lt"/>
              </a:rPr>
              <a:t>All designs verified through RTL diagrams and simulation waveforms in </a:t>
            </a:r>
            <a:r>
              <a:rPr lang="en-US" err="1">
                <a:ea typeface="+mn-lt"/>
                <a:cs typeface="+mn-lt"/>
              </a:rPr>
              <a:t>Vivado</a:t>
            </a:r>
            <a:endParaRPr lang="en-US" err="1"/>
          </a:p>
          <a:p>
            <a:endParaRPr lang="en-US"/>
          </a:p>
        </p:txBody>
      </p:sp>
    </p:spTree>
    <p:extLst>
      <p:ext uri="{BB962C8B-B14F-4D97-AF65-F5344CB8AC3E}">
        <p14:creationId xmlns:p14="http://schemas.microsoft.com/office/powerpoint/2010/main" val="2178997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4D668-3233-EF31-EEEA-BFC4815F6D09}"/>
              </a:ext>
            </a:extLst>
          </p:cNvPr>
          <p:cNvSpPr>
            <a:spLocks noGrp="1"/>
          </p:cNvSpPr>
          <p:nvPr>
            <p:ph type="title"/>
          </p:nvPr>
        </p:nvSpPr>
        <p:spPr>
          <a:xfrm>
            <a:off x="358036" y="198112"/>
            <a:ext cx="10995764" cy="1231617"/>
          </a:xfrm>
        </p:spPr>
        <p:txBody>
          <a:bodyPr/>
          <a:lstStyle/>
          <a:p>
            <a:r>
              <a:rPr lang="en-US">
                <a:ea typeface="+mj-lt"/>
                <a:cs typeface="+mj-lt"/>
              </a:rPr>
              <a:t>Results &amp; Verification</a:t>
            </a:r>
            <a:r>
              <a:rPr lang="en-US"/>
              <a:t> </a:t>
            </a:r>
          </a:p>
        </p:txBody>
      </p:sp>
      <p:sp>
        <p:nvSpPr>
          <p:cNvPr id="3" name="Content Placeholder 2">
            <a:extLst>
              <a:ext uri="{FF2B5EF4-FFF2-40B4-BE49-F238E27FC236}">
                <a16:creationId xmlns:a16="http://schemas.microsoft.com/office/drawing/2014/main" id="{AAB9BCB4-A81B-C5F2-DBF8-9E96E935D5B9}"/>
              </a:ext>
            </a:extLst>
          </p:cNvPr>
          <p:cNvSpPr>
            <a:spLocks noGrp="1"/>
          </p:cNvSpPr>
          <p:nvPr>
            <p:ph idx="1"/>
          </p:nvPr>
        </p:nvSpPr>
        <p:spPr>
          <a:xfrm>
            <a:off x="138831" y="1293270"/>
            <a:ext cx="11830831" cy="5123775"/>
          </a:xfrm>
        </p:spPr>
        <p:txBody>
          <a:bodyPr vert="horz" lIns="91440" tIns="45720" rIns="91440" bIns="45720" rtlCol="0" anchor="t">
            <a:normAutofit lnSpcReduction="10000"/>
          </a:bodyPr>
          <a:lstStyle/>
          <a:p>
            <a:r>
              <a:rPr lang="en-US" b="1" dirty="0">
                <a:ea typeface="+mn-lt"/>
                <a:cs typeface="+mn-lt"/>
              </a:rPr>
              <a:t>D Flip-Flop:</a:t>
            </a:r>
            <a:r>
              <a:rPr lang="en-US" dirty="0">
                <a:ea typeface="+mn-lt"/>
                <a:cs typeface="+mn-lt"/>
              </a:rPr>
              <a:t> Correctly captured D on every rising clock edge; synchronous reset waited for clock, asynchronous reset responded immediately mid-cycle</a:t>
            </a:r>
            <a:endParaRPr lang="en-US" dirty="0"/>
          </a:p>
          <a:p>
            <a:r>
              <a:rPr lang="en-US" b="1">
                <a:ea typeface="+mn-lt"/>
                <a:cs typeface="+mn-lt"/>
              </a:rPr>
              <a:t>8×8 Multiplier:</a:t>
            </a:r>
            <a:r>
              <a:rPr lang="en-US">
                <a:ea typeface="+mn-lt"/>
                <a:cs typeface="+mn-lt"/>
              </a:rPr>
              <a:t> Passed all 8 test cases including edge cases like 255×255 = 65025 and 0×0 = 0</a:t>
            </a:r>
            <a:endParaRPr lang="en-US"/>
          </a:p>
          <a:p>
            <a:r>
              <a:rPr lang="en-US" b="1">
                <a:ea typeface="+mn-lt"/>
                <a:cs typeface="+mn-lt"/>
              </a:rPr>
              <a:t>18-bit Ripple Carry Adder:</a:t>
            </a:r>
            <a:r>
              <a:rPr lang="en-US">
                <a:ea typeface="+mn-lt"/>
                <a:cs typeface="+mn-lt"/>
              </a:rPr>
              <a:t> Correctly computed sums for all 5 test vectors including max-value overflow and carry-in effects . </a:t>
            </a:r>
            <a:endParaRPr lang="en-US"/>
          </a:p>
          <a:p>
            <a:r>
              <a:rPr lang="en-US">
                <a:ea typeface="+mn-lt"/>
                <a:cs typeface="+mn-lt"/>
              </a:rPr>
              <a:t>All three leaf cells produced matching waveform outputs against expected values</a:t>
            </a:r>
            <a:endParaRPr lang="en-US"/>
          </a:p>
          <a:p>
            <a:r>
              <a:rPr lang="en-US">
                <a:ea typeface="+mn-lt"/>
                <a:cs typeface="+mn-lt"/>
              </a:rPr>
              <a:t>RTL schematics confirmed correct gate-level structure for each module</a:t>
            </a:r>
            <a:endParaRPr lang="en-US"/>
          </a:p>
          <a:p>
            <a:r>
              <a:rPr lang="en-US" dirty="0">
                <a:ea typeface="+mn-lt"/>
                <a:cs typeface="+mn-lt"/>
              </a:rPr>
              <a:t>Foundation validated for integration into the full parallel MAC-based matrix multiplication system</a:t>
            </a:r>
            <a:endParaRPr lang="en-US" dirty="0"/>
          </a:p>
          <a:p>
            <a:endParaRPr lang="en-US"/>
          </a:p>
        </p:txBody>
      </p:sp>
    </p:spTree>
    <p:extLst>
      <p:ext uri="{BB962C8B-B14F-4D97-AF65-F5344CB8AC3E}">
        <p14:creationId xmlns:p14="http://schemas.microsoft.com/office/powerpoint/2010/main" val="566686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51D74-0323-6507-9E47-D54CB2EDD82A}"/>
              </a:ext>
            </a:extLst>
          </p:cNvPr>
          <p:cNvSpPr>
            <a:spLocks noGrp="1"/>
          </p:cNvSpPr>
          <p:nvPr>
            <p:ph type="title"/>
          </p:nvPr>
        </p:nvSpPr>
        <p:spPr>
          <a:xfrm>
            <a:off x="838200" y="145474"/>
            <a:ext cx="10515600" cy="1101436"/>
          </a:xfrm>
        </p:spPr>
        <p:txBody>
          <a:bodyPr/>
          <a:lstStyle/>
          <a:p>
            <a:r>
              <a:rPr lang="en-US" dirty="0"/>
              <a:t>GITHUB </a:t>
            </a:r>
            <a:endParaRPr lang="en-IN" dirty="0"/>
          </a:p>
        </p:txBody>
      </p:sp>
      <p:pic>
        <p:nvPicPr>
          <p:cNvPr id="5" name="Content Placeholder 4">
            <a:extLst>
              <a:ext uri="{FF2B5EF4-FFF2-40B4-BE49-F238E27FC236}">
                <a16:creationId xmlns:a16="http://schemas.microsoft.com/office/drawing/2014/main" id="{B9E9C4FD-C003-7D17-0426-81D508E5AC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3064" y="1236519"/>
            <a:ext cx="9164782" cy="4351338"/>
          </a:xfrm>
          <a:prstGeom prst="rect">
            <a:avLst/>
          </a:prstGeom>
        </p:spPr>
      </p:pic>
      <p:sp>
        <p:nvSpPr>
          <p:cNvPr id="6" name="TextBox 5">
            <a:extLst>
              <a:ext uri="{FF2B5EF4-FFF2-40B4-BE49-F238E27FC236}">
                <a16:creationId xmlns:a16="http://schemas.microsoft.com/office/drawing/2014/main" id="{36D0A52E-37A3-81FA-36CF-E5F0BAF1B9C6}"/>
              </a:ext>
            </a:extLst>
          </p:cNvPr>
          <p:cNvSpPr txBox="1"/>
          <p:nvPr/>
        </p:nvSpPr>
        <p:spPr>
          <a:xfrm>
            <a:off x="1475509" y="5797240"/>
            <a:ext cx="9237518" cy="369332"/>
          </a:xfrm>
          <a:prstGeom prst="rect">
            <a:avLst/>
          </a:prstGeom>
          <a:noFill/>
        </p:spPr>
        <p:txBody>
          <a:bodyPr wrap="square" rtlCol="0">
            <a:spAutoFit/>
          </a:bodyPr>
          <a:lstStyle/>
          <a:p>
            <a:r>
              <a:rPr lang="en-US" dirty="0">
                <a:hlinkClick r:id="rId3"/>
              </a:rPr>
              <a:t>https://github.com/PBL-A-4</a:t>
            </a:r>
            <a:r>
              <a:rPr lang="en-US">
                <a:hlinkClick r:id="rId3"/>
              </a:rPr>
              <a:t>/FPGA-based-matrix-multiply-accelerator.</a:t>
            </a:r>
            <a:r>
              <a:rPr lang="en-US" dirty="0">
                <a:hlinkClick r:id="rId3"/>
              </a:rPr>
              <a:t>git</a:t>
            </a:r>
            <a:r>
              <a:rPr lang="en-US" dirty="0"/>
              <a:t> </a:t>
            </a:r>
            <a:endParaRPr lang="en-IN" dirty="0"/>
          </a:p>
        </p:txBody>
      </p:sp>
      <p:graphicFrame>
        <p:nvGraphicFramePr>
          <p:cNvPr id="7" name="Table 6">
            <a:extLst>
              <a:ext uri="{FF2B5EF4-FFF2-40B4-BE49-F238E27FC236}">
                <a16:creationId xmlns:a16="http://schemas.microsoft.com/office/drawing/2014/main" id="{57014367-D303-B0B4-851F-0154E0B00038}"/>
              </a:ext>
            </a:extLst>
          </p:cNvPr>
          <p:cNvGraphicFramePr>
            <a:graphicFrameLocks noGrp="1"/>
          </p:cNvGraphicFramePr>
          <p:nvPr/>
        </p:nvGraphicFramePr>
        <p:xfrm>
          <a:off x="838200" y="1825625"/>
          <a:ext cx="8016240" cy="739140"/>
        </p:xfrm>
        <a:graphic>
          <a:graphicData uri="http://schemas.openxmlformats.org/drawingml/2006/table">
            <a:tbl>
              <a:tblPr/>
              <a:tblGrid>
                <a:gridCol w="7599680">
                  <a:extLst>
                    <a:ext uri="{9D8B030D-6E8A-4147-A177-3AD203B41FA5}">
                      <a16:colId xmlns:a16="http://schemas.microsoft.com/office/drawing/2014/main" val="1017082794"/>
                    </a:ext>
                  </a:extLst>
                </a:gridCol>
                <a:gridCol w="208280">
                  <a:extLst>
                    <a:ext uri="{9D8B030D-6E8A-4147-A177-3AD203B41FA5}">
                      <a16:colId xmlns:a16="http://schemas.microsoft.com/office/drawing/2014/main" val="2959481606"/>
                    </a:ext>
                  </a:extLst>
                </a:gridCol>
                <a:gridCol w="208280">
                  <a:extLst>
                    <a:ext uri="{9D8B030D-6E8A-4147-A177-3AD203B41FA5}">
                      <a16:colId xmlns:a16="http://schemas.microsoft.com/office/drawing/2014/main" val="2077108190"/>
                    </a:ext>
                  </a:extLst>
                </a:gridCol>
              </a:tblGrid>
              <a:tr h="0">
                <a:tc gridSpan="3">
                  <a:txBody>
                    <a:bodyPr/>
                    <a:lstStyle/>
                    <a:p>
                      <a:endParaRPr lang="en-IN"/>
                    </a:p>
                  </a:txBody>
                  <a:tcPr marL="0" marR="0" marT="0" marB="0" anchor="ctr">
                    <a:lnL>
                      <a:noFill/>
                    </a:lnL>
                    <a:lnR>
                      <a:noFill/>
                    </a:lnR>
                    <a:lnT>
                      <a:noFill/>
                    </a:lnT>
                    <a:lnB>
                      <a:noFill/>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71381154"/>
                  </a:ext>
                </a:extLst>
              </a:tr>
              <a:tr h="0">
                <a:tc>
                  <a:txBody>
                    <a:bodyPr/>
                    <a:lstStyle/>
                    <a:p>
                      <a:pPr>
                        <a:lnSpc>
                          <a:spcPts val="1500"/>
                        </a:lnSpc>
                        <a:buNone/>
                      </a:pPr>
                      <a:r>
                        <a:rPr lang="en-IN">
                          <a:solidFill>
                            <a:srgbClr val="5E5E5E"/>
                          </a:solidFill>
                          <a:effectLst/>
                          <a:latin typeface="Google Sans"/>
                        </a:rPr>
                        <a:t>o me</a:t>
                      </a:r>
                      <a:endParaRPr lang="en-IN">
                        <a:effectLst/>
                      </a:endParaRPr>
                    </a:p>
                    <a:p>
                      <a:pPr>
                        <a:buNone/>
                      </a:pPr>
                      <a:endParaRPr lang="en-IN">
                        <a:effectLst/>
                      </a:endParaRPr>
                    </a:p>
                  </a:txBody>
                  <a:tcPr marL="0" marR="0" marT="0" marB="0" anchor="ctr">
                    <a:lnL>
                      <a:noFill/>
                    </a:lnL>
                    <a:lnR>
                      <a:noFill/>
                    </a:lnR>
                    <a:lnT>
                      <a:noFill/>
                    </a:lnT>
                    <a:lnB>
                      <a:noFill/>
                    </a:lnB>
                    <a:noFill/>
                  </a:tcPr>
                </a:tc>
                <a:tc>
                  <a:txBody>
                    <a:bodyPr/>
                    <a:lstStyle/>
                    <a:p>
                      <a:endParaRPr lang="en-IN"/>
                    </a:p>
                  </a:txBody>
                  <a:tcPr>
                    <a:lnL>
                      <a:noFill/>
                    </a:lnL>
                    <a:lnT>
                      <a:noFill/>
                    </a:lnT>
                  </a:tcPr>
                </a:tc>
                <a:tc>
                  <a:txBody>
                    <a:bodyPr/>
                    <a:lstStyle/>
                    <a:p>
                      <a:endParaRPr lang="en-IN" dirty="0"/>
                    </a:p>
                  </a:txBody>
                  <a:tcPr>
                    <a:lnT>
                      <a:noFill/>
                    </a:lnT>
                  </a:tcPr>
                </a:tc>
                <a:extLst>
                  <a:ext uri="{0D108BD9-81ED-4DB2-BD59-A6C34878D82A}">
                    <a16:rowId xmlns:a16="http://schemas.microsoft.com/office/drawing/2014/main" val="1356792991"/>
                  </a:ext>
                </a:extLst>
              </a:tr>
            </a:tbl>
          </a:graphicData>
        </a:graphic>
      </p:graphicFrame>
    </p:spTree>
    <p:extLst>
      <p:ext uri="{BB962C8B-B14F-4D97-AF65-F5344CB8AC3E}">
        <p14:creationId xmlns:p14="http://schemas.microsoft.com/office/powerpoint/2010/main" val="4081158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849</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Google Sans</vt:lpstr>
      <vt:lpstr>Office Theme</vt:lpstr>
      <vt:lpstr>PowerPoint Presentation</vt:lpstr>
      <vt:lpstr>INTRODUCTION </vt:lpstr>
      <vt:lpstr>PROBLEM STATEMEMT:</vt:lpstr>
      <vt:lpstr>Architecture</vt:lpstr>
      <vt:lpstr>Block Diagram</vt:lpstr>
      <vt:lpstr>Theoretical Background</vt:lpstr>
      <vt:lpstr>System Design &amp; Simplification </vt:lpstr>
      <vt:lpstr>Software Requirements </vt:lpstr>
      <vt:lpstr>Implementation </vt:lpstr>
      <vt:lpstr>Results &amp; Verification </vt:lpstr>
      <vt:lpstr>GITHUB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Hemashree M S</dc:creator>
  <cp:lastModifiedBy>apoorvamonteiro@gmail.com</cp:lastModifiedBy>
  <cp:revision>206</cp:revision>
  <dcterms:created xsi:type="dcterms:W3CDTF">2026-05-11T17:41:15Z</dcterms:created>
  <dcterms:modified xsi:type="dcterms:W3CDTF">2026-05-12T09:18:15Z</dcterms:modified>
</cp:coreProperties>
</file>